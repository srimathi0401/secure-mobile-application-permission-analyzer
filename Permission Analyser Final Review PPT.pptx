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7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 strictFirstAndLastChar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type="screen16x9" cy="5143500" cx="9144000"/>
  <p:notesSz cx="9144000" cy="51435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0249A9FF-567A-444A-8109-AF22E70E805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2236" autoAdjust="0"/>
  </p:normalViewPr>
  <p:slideViewPr>
    <p:cSldViewPr snapToGrid="0">
      <p:cViewPr varScale="1">
        <p:scale>
          <a:sx n="117" d="100"/>
          <a:sy n="117" d="100"/>
        </p:scale>
        <p:origin x="466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tableStyles" Target="tableStyle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7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25717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708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25717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709" name="Google Shape;5;n"/>
          <p:cNvSpPr>
            <a:spLocks noChangeAspect="1" noRot="1" noGrp="1"/>
          </p:cNvSpPr>
          <p:nvPr>
            <p:ph type="sldImg" idx="3"/>
          </p:nvPr>
        </p:nvSpPr>
        <p:spPr>
          <a:xfrm>
            <a:off x="3028950" y="642938"/>
            <a:ext cx="3086100" cy="1736725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10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228600" lvl="1" marL="9144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228600" lvl="2" marL="13716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228600" lvl="3" marL="18288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228600" lvl="4" marL="22860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228600" lvl="5" marL="27432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228600" lvl="6" marL="32004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228600" lvl="7" marL="36576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228600" lvl="8" marL="41148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711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4886325"/>
            <a:ext cx="3962400" cy="257175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712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4886325"/>
            <a:ext cx="3962400" cy="257175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cap="none" sz="12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cap="none" sz="12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1" name="Google Shape;90;p1:notes"/>
          <p:cNvSpPr>
            <a:spLocks noChangeAspect="1" noRot="1" noGrp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8" name="Google Shape;101;p2:notes"/>
          <p:cNvSpPr>
            <a:spLocks noChangeAspect="1" noRot="1" noGrp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2" name="Google Shape;107;p3:notes"/>
          <p:cNvSpPr>
            <a:spLocks noChangeAspect="1" noRot="1" noGrp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6" name="Google Shape;119;p5:notes"/>
          <p:cNvSpPr>
            <a:spLocks noChangeAspect="1" noRot="1" noGrp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7" name="Google Shape;113;p4:notes"/>
          <p:cNvSpPr>
            <a:spLocks noChangeAspect="1" noRot="1" noGrp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6" name="Google Shape;125;p6:notes"/>
          <p:cNvSpPr>
            <a:spLocks noChangeAspect="1" noRot="1" noGrp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914400" y="2474913"/>
            <a:ext cx="7315200" cy="20256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0" name="Google Shape;131;p7:notes"/>
          <p:cNvSpPr>
            <a:spLocks noChangeAspect="1" noRot="1" noGrp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24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6;p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2" name="Google Shape;17;p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583" name="Google Shape;18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4" name="Google Shape;19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5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47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22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/>
        </p:txBody>
      </p:sp>
      <p:sp>
        <p:nvSpPr>
          <p:cNvPr id="1048593" name="Google Shape;23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algn="l"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lvl1pPr>
            <a:lvl2pPr algn="l"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lvl2pPr>
            <a:lvl3pPr algn="l"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lvl3pPr>
            <a:lvl4pPr algn="l"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lvl4pPr>
            <a:lvl5pPr algn="l"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lvl5pPr>
            <a:lvl6pPr algn="l"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lvl6pPr>
            <a:lvl7pPr algn="l"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lvl7pPr>
            <a:lvl8pPr algn="l"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lvl8pPr>
            <a:lvl9pPr algn="l"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lvl9pPr>
          </a:lstStyle>
          <a:p/>
        </p:txBody>
      </p:sp>
      <p:sp>
        <p:nvSpPr>
          <p:cNvPr id="1048594" name="Google Shape;2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93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Google Shape;26;p1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ctr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6" name="Google Shape;27;p1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ctr" lv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 lvl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 lvl="2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algn="ctr" lvl="3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 lvl="4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 lvl="5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 lvl="6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 lvl="7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 lvl="8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48687" name="Google Shape;28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8" name="Google Shape;29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9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94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Google Shape;32;p12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1" name="Google Shape;33;p12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algn="l" indent="-228600" lvl="1" marL="914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algn="l" indent="-228600" lvl="2" marL="1371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algn="l" indent="-228600" lvl="3" marL="1828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algn="l" indent="-228600" lvl="4" marL="22860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algn="l" indent="-228600" lvl="5" marL="27432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algn="l" indent="-228600" lvl="6" marL="3200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algn="l" indent="-228600" lvl="7" marL="3657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algn="l" indent="-228600" lvl="8" marL="4114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692" name="Google Shape;34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3" name="Google Shape;35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4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95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Google Shape;38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6" name="Google Shape;39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97" name="Google Shape;40;p1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98" name="Google Shape;41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9" name="Google Shape;42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0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89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Google Shape;45;p14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2" name="Google Shape;46;p14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algn="l" indent="-228600" lvl="1" marL="914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algn="l" indent="-228600" lvl="2" marL="1371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algn="l" indent="-228600" lvl="3" marL="1828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algn="l" indent="-228600" lvl="4" marL="22860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algn="l" indent="-228600" lvl="5" marL="27432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algn="l" indent="-228600" lvl="6" marL="3200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algn="l" indent="-228600" lvl="7" marL="3657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algn="l" indent="-228600" lvl="8" marL="4114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48663" name="Google Shape;47;p14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64" name="Google Shape;48;p14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algn="l" indent="-228600" lvl="1" marL="914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algn="l" indent="-228600" lvl="2" marL="1371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algn="l" indent="-228600" lvl="3" marL="1828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algn="l" indent="-228600" lvl="4" marL="22860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algn="l" indent="-228600" lvl="5" marL="27432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algn="l" indent="-228600" lvl="6" marL="3200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algn="l" indent="-228600" lvl="7" marL="3657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algn="l" indent="-228600" lvl="8" marL="4114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48665" name="Google Shape;49;p14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66" name="Google Shape;50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7" name="Google Shape;51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8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64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Google Shape;54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19" name="Google Shape;5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0" name="Google Shape;5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1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96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Google Shape;63;p1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2" name="Google Shape;64;p17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81000" lvl="0" marL="457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algn="l" indent="-361950" lvl="1" marL="914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algn="l" indent="-342900" lvl="2" marL="1371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algn="l" indent="-323850" lvl="3" marL="1828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algn="l" indent="-323850" lvl="4" marL="22860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algn="l" indent="-323850" lvl="5" marL="27432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algn="l" indent="-323850" lvl="6" marL="3200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algn="l" indent="-323850" lvl="7" marL="3657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algn="l" indent="-323850" lvl="8" marL="4114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8703" name="Google Shape;65;p17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algn="l" indent="-228600" lvl="1" marL="914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algn="l" indent="-228600" lvl="2" marL="1371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algn="l" indent="-228600" lvl="3" marL="1828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algn="l" indent="-228600" lvl="4" marL="22860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algn="l" indent="-228600" lvl="5" marL="27432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algn="l" indent="-228600" lvl="6" marL="3200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algn="l" indent="-228600" lvl="7" marL="3657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algn="l" indent="-228600" lvl="8" marL="4114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048704" name="Google Shape;66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5" name="Google Shape;67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6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9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Google Shape;70;p1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5" name="Google Shape;71;p18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/>
          <a:noFill/>
          <a:ln>
            <a:noFill/>
          </a:ln>
        </p:spPr>
      </p:sp>
      <p:sp>
        <p:nvSpPr>
          <p:cNvPr id="1048676" name="Google Shape;72;p18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algn="l" indent="-228600" lvl="1" marL="914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algn="l" indent="-228600" lvl="2" marL="1371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algn="l" indent="-228600" lvl="3" marL="1828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algn="l" indent="-228600" lvl="4" marL="22860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algn="l" indent="-228600" lvl="5" marL="27432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algn="l" indent="-228600" lvl="6" marL="3200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algn="l" indent="-228600" lvl="7" marL="3657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algn="l" indent="-228600" lvl="8" marL="4114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048677" name="Google Shape;73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8" name="Google Shape;74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9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92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Google Shape;77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1" name="Google Shape;78;p19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82" name="Google Shape;79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3" name="Google Shape;80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4" name="Google Shape;81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90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Google Shape;83;p20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0" name="Google Shape;84;p20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71" name="Google Shape;85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2" name="Google Shape;86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3" name="Google Shape;87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2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cap="none" sz="33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577" name="Google Shape;11;p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61950" lvl="0" marL="457200" marR="0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cap="none" sz="21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342900" lvl="1" marL="914400" marR="0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323850" lvl="2" marL="1371600" marR="0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cap="none" sz="15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314325" lvl="3" marL="1828800" marR="0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cap="none" sz="135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314325" lvl="4" marL="2286000" marR="0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cap="none" sz="135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314325" lvl="5" marL="2743200" marR="0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cap="none" sz="135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14325" lvl="6" marL="3200400" marR="0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cap="none" sz="135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14325" lvl="7" marL="3657600" marR="0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cap="none" sz="135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14325" lvl="8" marL="4114800" marR="0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cap="none" sz="135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78" name="Google Shape;12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9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79" name="Google Shape;13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9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80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sz="9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5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92;p1"/>
          <p:cNvSpPr txBox="1">
            <a:spLocks noGrp="1"/>
          </p:cNvSpPr>
          <p:nvPr>
            <p:ph type="title"/>
          </p:nvPr>
        </p:nvSpPr>
        <p:spPr>
          <a:xfrm>
            <a:off x="1509132" y="165023"/>
            <a:ext cx="5986730" cy="335989"/>
          </a:xfrm>
          <a:prstGeom prst="rect"/>
          <a:noFill/>
          <a:ln>
            <a:noFill/>
          </a:ln>
        </p:spPr>
        <p:txBody>
          <a:bodyPr anchor="ctr" anchorCtr="0" bIns="0" lIns="0" rIns="0" spcFirstLastPara="1" tIns="12700" wrap="square">
            <a:spAutoFit/>
          </a:bodyPr>
          <a:p>
            <a:pPr algn="l" indent="0" lvl="0" marL="12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</a:pPr>
            <a:r>
              <a:rPr b="1" dirty="0" sz="2100" lang="en-US">
                <a:latin typeface="Times New Roman"/>
                <a:ea typeface="Times New Roman"/>
                <a:cs typeface="Times New Roman"/>
                <a:sym typeface="Times New Roman"/>
              </a:rPr>
              <a:t>SRM VALLIAMMAI ENGINEERING COLLEGE</a:t>
            </a:r>
            <a:endParaRPr dirty="0"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587" name="Google Shape;93;p1"/>
          <p:cNvSpPr txBox="1"/>
          <p:nvPr/>
        </p:nvSpPr>
        <p:spPr>
          <a:xfrm>
            <a:off x="1297402" y="534201"/>
            <a:ext cx="6544309" cy="1614805"/>
          </a:xfrm>
          <a:prstGeom prst="rect"/>
          <a:noFill/>
          <a:ln>
            <a:noFill/>
          </a:ln>
        </p:spPr>
        <p:txBody>
          <a:bodyPr anchor="t" anchorCtr="0" bIns="0" lIns="0" rIns="0" spcFirstLastPara="1" tIns="12700" wrap="square">
            <a:spAutoFit/>
          </a:bodyPr>
          <a:p>
            <a:pPr algn="ctr" indent="0" lvl="0" marL="444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8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</a:t>
            </a:r>
            <a:r>
              <a:rPr b="1" cap="none" dirty="0" sz="16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CYBER </a:t>
            </a:r>
            <a:r>
              <a:rPr b="1" cap="none" dirty="0" sz="18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</a:t>
            </a:r>
            <a:endParaRPr b="0" cap="none" dirty="0" sz="1800" i="0" strike="noStrike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indent="0" lvl="0" marL="4445" marR="0" rtl="0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None/>
            </a:pPr>
            <a:r>
              <a:rPr b="1" dirty="0" sz="120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CY3641</a:t>
            </a:r>
            <a:r>
              <a:rPr b="1" cap="none" dirty="0" sz="12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MINI PROJECT</a:t>
            </a:r>
            <a:endParaRPr b="0" cap="none" dirty="0" sz="1200" i="0" strike="noStrike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indent="0" lvl="0" marL="118745" marR="0" rtl="0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</a:t>
            </a:r>
            <a:r>
              <a:rPr baseline="30000" b="1" cap="none" sz="135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cap="none" dirty="0" sz="1500" i="0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</a:t>
            </a:r>
            <a:endParaRPr b="0" cap="none" dirty="0" sz="1500" i="0" strike="noStrike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indent="-4445" lvl="0" marL="25400" marR="1778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cap="none" dirty="0" sz="1550" i="0" strike="noStrike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indent="-4445" lvl="0" marL="25400" marR="17780"/>
            <a:r>
              <a:rPr b="1" dirty="0" sz="1500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Mobile Application Permission Analyzer using Natural Language Processing</a:t>
            </a:r>
            <a:endParaRPr b="0" cap="none" dirty="0" sz="1500" i="0" strike="noStrike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588" name="Google Shape;94;p1"/>
          <p:cNvSpPr txBox="1"/>
          <p:nvPr/>
        </p:nvSpPr>
        <p:spPr>
          <a:xfrm>
            <a:off x="5925882" y="2802602"/>
            <a:ext cx="2433320" cy="228268"/>
          </a:xfrm>
          <a:prstGeom prst="rect"/>
          <a:noFill/>
          <a:ln>
            <a:noFill/>
          </a:ln>
        </p:spPr>
        <p:txBody>
          <a:bodyPr anchor="t" anchorCtr="0" bIns="0" lIns="0" rIns="0" spcFirstLastPara="1" tIns="12700" wrap="square">
            <a:spAutoFit/>
          </a:bodyPr>
          <a:p>
            <a:pPr algn="l" indent="0" lvl="0" marL="127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400" i="1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OF:</a:t>
            </a:r>
            <a:endParaRPr b="1" cap="none" sz="1400" i="1" strike="noStrike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194304" name="Google Shape;95;p1"/>
          <p:cNvGraphicFramePr>
            <a:graphicFrameLocks/>
          </p:cNvGraphicFramePr>
          <p:nvPr/>
        </p:nvGraphicFramePr>
        <p:xfrm>
          <a:off x="379595" y="3198496"/>
          <a:ext cx="7865125" cy="1341439"/>
        </p:xfrm>
        <a:graphic>
          <a:graphicData uri="http://schemas.openxmlformats.org/drawingml/2006/table">
            <a:tbl>
              <a:tblPr firstRow="1" bandRow="1">
                <a:noFill/>
                <a:tableStyleId>{0249A9FF-567A-444A-8109-AF22E70E8050}</a:tableStyleId>
              </a:tblPr>
              <a:tblGrid>
                <a:gridCol w="1311275"/>
                <a:gridCol w="2948950"/>
                <a:gridCol w="3604900"/>
              </a:tblGrid>
              <a:tr h="0">
                <a:tc>
                  <a:txBody>
                    <a:bodyPr/>
                    <a:p>
                      <a:pPr algn="ctr" indent="0" lvl="0" marL="0" marR="17780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i="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b="0" cap="none" dirty="0" sz="1200" i="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.142223128045 </a:t>
                      </a:r>
                    </a:p>
                    <a:p>
                      <a:pPr algn="ctr" indent="0" lvl="0" marL="0" marR="17780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cap="none" dirty="0" sz="1200" i="0" lang="en-US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algn="ctr" indent="0" lvl="0" marL="0" marR="17780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i="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b="0" cap="none" dirty="0" sz="1200" i="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.142223128048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l" defTabSz="914400" eaLnBrk="1" fontAlgn="auto" hangingPunct="1" indent="0" latinLnBrk="0" lvl="0" marL="57150" marR="0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</a:pPr>
                      <a:r>
                        <a:rPr b="0" cap="none" dirty="0" sz="1200" i="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  SHUNMUGA PRIYA R</a:t>
                      </a:r>
                    </a:p>
                    <a:p>
                      <a:pPr algn="l" indent="-171450" lvl="0" marL="228600" marR="0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endParaRPr b="0" cap="none" dirty="0" sz="1200" i="0" lang="en-US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algn="l" indent="0" lvl="0" marL="57150" marR="0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b="0" cap="none" dirty="0" sz="1200" i="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  SRIMATHI V</a:t>
                      </a:r>
                    </a:p>
                    <a:p>
                      <a:pPr algn="l" indent="-171450" lvl="0" marL="228600" marR="0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endParaRPr b="0" cap="none" dirty="0" sz="1200" i="0" lang="en-IN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 indent="0" lvl="1" marL="1400810" marR="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200" i="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Ms. M.RAGHAVI</a:t>
                      </a:r>
                    </a:p>
                    <a:p>
                      <a:pPr algn="ctr" defTabSz="914400" eaLnBrk="1" fontAlgn="auto" hangingPunct="1" indent="0" latinLnBrk="0" lvl="1" marL="1400810" marR="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cap="none" dirty="0" sz="1200" i="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Assistant Professor - O.G</a:t>
                      </a:r>
                    </a:p>
                    <a:p>
                      <a:pPr algn="ctr" indent="0" lvl="0" marL="1400810" marR="0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cap="none" dirty="0" sz="1200" i="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</a:tr>
              <a:tr h="257299">
                <a:tc>
                  <a:txBody>
                    <a:bodyPr/>
                    <a:p>
                      <a:pPr algn="ctr" indent="0" lvl="0" marL="0" marR="17780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0" cap="none" dirty="0" sz="1200" i="0" lang="en-US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algn="ctr" indent="0" lvl="0" marL="0" marR="17780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0" cap="none" dirty="0" sz="1200" i="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l" indent="0" lvl="0" marL="57150" marR="0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0" cap="none" dirty="0" sz="1200" i="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 indent="0" lvl="0" marL="1440180" marR="0" rtl="0">
                        <a:lnSpc>
                          <a:spcPct val="111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cap="none" dirty="0" sz="1200" i="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</a:tr>
              <a:tr h="124044">
                <a:tc>
                  <a:txBody>
                    <a:bodyPr/>
                    <a:p>
                      <a:pPr algn="ctr" indent="0" lvl="0" marL="0" marR="17780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0" cap="none" dirty="0" sz="1200" i="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l" indent="0" lvl="0" marL="57150" marR="0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0" cap="none" dirty="0" sz="1200" i="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 indent="0" lvl="0" marL="1400810" marR="0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cap="none" dirty="0" sz="1200" i="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pic>
        <p:nvPicPr>
          <p:cNvPr id="2097152" name="Google Shape;96;p1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674439" y="197079"/>
            <a:ext cx="666828" cy="807909"/>
          </a:xfrm>
          <a:prstGeom prst="rect"/>
          <a:noFill/>
          <a:ln>
            <a:noFill/>
          </a:ln>
        </p:spPr>
      </p:pic>
      <p:pic>
        <p:nvPicPr>
          <p:cNvPr id="2097153" name="Google Shape;97;p1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7751104" y="197079"/>
            <a:ext cx="885667" cy="793942"/>
          </a:xfrm>
          <a:prstGeom prst="rect"/>
          <a:noFill/>
          <a:ln>
            <a:noFill/>
          </a:ln>
        </p:spPr>
      </p:pic>
      <p:sp>
        <p:nvSpPr>
          <p:cNvPr id="1048589" name="Google Shape;98;p1"/>
          <p:cNvSpPr txBox="1"/>
          <p:nvPr/>
        </p:nvSpPr>
        <p:spPr>
          <a:xfrm>
            <a:off x="449545" y="2846846"/>
            <a:ext cx="1872614" cy="228268"/>
          </a:xfrm>
          <a:prstGeom prst="rect"/>
          <a:noFill/>
          <a:ln>
            <a:noFill/>
          </a:ln>
        </p:spPr>
        <p:txBody>
          <a:bodyPr anchor="t" anchorCtr="0" bIns="0" lIns="0" rIns="0" spcFirstLastPara="1" tIns="12700" wrap="square">
            <a:spAutoFit/>
          </a:bodyPr>
          <a:p>
            <a:pPr algn="l" indent="0" lvl="0" marL="127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dirty="0" sz="1400" i="1" lang="en-US" strike="noStrike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MEMBERS:</a:t>
            </a:r>
            <a:endParaRPr b="0" cap="none" dirty="0" sz="1400" i="1" strike="noStrike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Google Shape;103;p2"/>
          <p:cNvSpPr txBox="1">
            <a:spLocks noGrp="1"/>
          </p:cNvSpPr>
          <p:nvPr>
            <p:ph type="title"/>
          </p:nvPr>
        </p:nvSpPr>
        <p:spPr>
          <a:xfrm>
            <a:off x="265133" y="260195"/>
            <a:ext cx="8520600" cy="535259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dirty="0" sz="2800" lang="en-US">
                <a:latin typeface="Times New Roman"/>
                <a:ea typeface="Times New Roman"/>
                <a:cs typeface="Times New Roman"/>
                <a:sym typeface="Times New Roman"/>
              </a:rPr>
              <a:t>ABSTRACT:</a:t>
            </a:r>
            <a:endParaRPr dirty="0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596" name="Google Shape;104;p2"/>
          <p:cNvSpPr txBox="1">
            <a:spLocks noGrp="1"/>
          </p:cNvSpPr>
          <p:nvPr>
            <p:ph type="body" idx="1"/>
          </p:nvPr>
        </p:nvSpPr>
        <p:spPr>
          <a:xfrm>
            <a:off x="265133" y="862361"/>
            <a:ext cx="8520600" cy="3831559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just" indent="0" lvl="3" marL="177800">
              <a:buNone/>
            </a:pPr>
            <a:r>
              <a:rPr dirty="0" sz="1800" lang="en-US">
                <a:latin typeface="Times New Roman"/>
                <a:ea typeface="Times New Roman"/>
                <a:cs typeface="Times New Roman"/>
                <a:sym typeface="Times New Roman"/>
              </a:rPr>
              <a:t>	In this project, an App Permission Analyzer is developed to examine mobile application permissions and Terms &amp; Conditions in order to identify potential privacy and security risks. Many users accept policies without understanding how their data is collected and shared. The system uses keyword-based and text analysis techniques to detect permission usage, data-sharing practices, and possible manipulation tactics, and presents the results in a simple, understandable form so users can make safer decisions before installing or using an application.</a:t>
            </a:r>
          </a:p>
          <a:p>
            <a:pPr algn="just" indent="0" lvl="3" marL="177800">
              <a:buNone/>
            </a:pPr>
            <a:endParaRPr dirty="0" sz="1800" lang="en-US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 indent="0" lvl="3" marL="177800">
              <a:buNone/>
            </a:pPr>
            <a:r>
              <a:rPr b="1" dirty="0" sz="1800" lang="en-US">
                <a:latin typeface="Times New Roman"/>
                <a:ea typeface="Times New Roman"/>
                <a:cs typeface="Times New Roman"/>
                <a:sym typeface="Times New Roman"/>
              </a:rPr>
              <a:t>KEYWORDS:</a:t>
            </a:r>
            <a:r>
              <a:rPr b="1" dirty="0" sz="2000"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dirty="0" sz="1800" lang="en-US">
                <a:latin typeface="Times New Roman"/>
                <a:ea typeface="Times New Roman"/>
                <a:cs typeface="Times New Roman"/>
                <a:sym typeface="Times New Roman"/>
              </a:rPr>
              <a:t>App permission analysis, Terms and conditions analysis, Privacy policy analysis .</a:t>
            </a:r>
          </a:p>
          <a:p>
            <a:pPr algn="just" indent="0" lvl="3" marL="177800">
              <a:buNone/>
            </a:pPr>
            <a:endParaRPr dirty="0" sz="1800" lang="en-US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 indent="0" lvl="3" marL="177800">
              <a:buNone/>
            </a:pPr>
            <a:r>
              <a:rPr b="1" dirty="0" sz="1800" lang="en-US">
                <a:latin typeface="Times New Roman"/>
                <a:ea typeface="Times New Roman"/>
                <a:cs typeface="Times New Roman"/>
                <a:sym typeface="Times New Roman"/>
              </a:rPr>
              <a:t>TOOLS</a:t>
            </a:r>
            <a:r>
              <a:rPr dirty="0" sz="1800" lang="en-US">
                <a:latin typeface="Times New Roman"/>
                <a:ea typeface="Times New Roman"/>
                <a:cs typeface="Times New Roman"/>
                <a:sym typeface="Times New Roman"/>
              </a:rPr>
              <a:t> : Natural language processing, Regex</a:t>
            </a:r>
            <a:endParaRPr b="1" dirty="0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Google Shape;109;p3"/>
          <p:cNvSpPr txBox="1">
            <a:spLocks noGrp="1"/>
          </p:cNvSpPr>
          <p:nvPr>
            <p:ph type="title"/>
          </p:nvPr>
        </p:nvSpPr>
        <p:spPr>
          <a:xfrm>
            <a:off x="311700" y="267368"/>
            <a:ext cx="8520600" cy="633984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4276"/>
              <a:buFont typeface="Times New Roman"/>
              <a:buNone/>
            </a:pPr>
            <a:r>
              <a:rPr b="1" dirty="0" sz="2800" lang="en-US">
                <a:latin typeface="Times New Roman"/>
                <a:ea typeface="Times New Roman"/>
                <a:cs typeface="Times New Roman"/>
                <a:sym typeface="Times New Roman"/>
              </a:rPr>
              <a:t>INTRODUCTION:</a:t>
            </a:r>
            <a:endParaRPr b="1" dirty="0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00" name="Google Shape;110;p3"/>
          <p:cNvSpPr txBox="1">
            <a:spLocks noGrp="1"/>
          </p:cNvSpPr>
          <p:nvPr>
            <p:ph type="body" idx="1"/>
          </p:nvPr>
        </p:nvSpPr>
        <p:spPr>
          <a:xfrm>
            <a:off x="311700" y="921546"/>
            <a:ext cx="8520600" cy="38355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 lnSpcReduction="10000"/>
          </a:bodyPr>
          <a:p>
            <a:pPr algn="just" lvl="0">
              <a:lnSpc>
                <a:spcPct val="150000"/>
              </a:lnSpc>
            </a:pPr>
            <a:r>
              <a:rPr dirty="0" sz="1800" lang="en-US">
                <a:latin typeface="Times New Roman"/>
                <a:ea typeface="Times New Roman"/>
                <a:cs typeface="Times New Roman"/>
                <a:sym typeface="Times New Roman"/>
              </a:rPr>
              <a:t>Exploring the challenges in understanding mobile app permissions and privacy policies. </a:t>
            </a:r>
            <a:endParaRPr dirty="0" sz="1800"/>
          </a:p>
          <a:p>
            <a:pPr algn="just" lvl="0">
              <a:lnSpc>
                <a:spcPct val="150000"/>
              </a:lnSpc>
            </a:pPr>
            <a:r>
              <a:rPr dirty="0" sz="1800" lang="en-US">
                <a:latin typeface="Times New Roman"/>
                <a:ea typeface="Times New Roman"/>
                <a:cs typeface="Times New Roman"/>
                <a:sym typeface="Times New Roman"/>
              </a:rPr>
              <a:t>Analyzing application Terms &amp; Conditions to identify hidden data access and usage practices.</a:t>
            </a:r>
            <a:endParaRPr dirty="0" sz="1800"/>
          </a:p>
          <a:p>
            <a:pPr algn="just" lvl="0">
              <a:lnSpc>
                <a:spcPct val="150000"/>
              </a:lnSpc>
            </a:pPr>
            <a:r>
              <a:rPr dirty="0" sz="1800" lang="en-US">
                <a:latin typeface="Times New Roman"/>
                <a:ea typeface="Times New Roman"/>
                <a:cs typeface="Times New Roman"/>
                <a:sym typeface="Times New Roman"/>
              </a:rPr>
              <a:t>Detecting manipulative and misleading keywords related to user consent and data sharing.</a:t>
            </a:r>
          </a:p>
          <a:p>
            <a:pPr algn="just" lvl="0">
              <a:lnSpc>
                <a:spcPct val="150000"/>
              </a:lnSpc>
            </a:pPr>
            <a:r>
              <a:rPr dirty="0" sz="1800" lang="en-US">
                <a:latin typeface="Times New Roman"/>
                <a:ea typeface="Times New Roman"/>
                <a:cs typeface="Times New Roman"/>
                <a:sym typeface="Times New Roman"/>
              </a:rPr>
              <a:t>Utilizing keyword extraction and simple NLP techniques for policy analysis.</a:t>
            </a:r>
          </a:p>
          <a:p>
            <a:pPr algn="just" lvl="0">
              <a:lnSpc>
                <a:spcPct val="150000"/>
              </a:lnSpc>
            </a:pPr>
            <a:r>
              <a:rPr dirty="0" sz="1800" lang="en-US">
                <a:latin typeface="Times New Roman"/>
                <a:ea typeface="Times New Roman"/>
                <a:cs typeface="Times New Roman"/>
                <a:sym typeface="Times New Roman"/>
              </a:rPr>
              <a:t>Demonstrating an automated approach for identifying privacy risk in mobile applications.</a:t>
            </a:r>
            <a:endParaRPr dirty="0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Google Shape;1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4276"/>
              <a:buFont typeface="Times New Roman"/>
              <a:buNone/>
            </a:pPr>
            <a:r>
              <a:rPr b="1" dirty="0" sz="2800" lang="en-US">
                <a:latin typeface="Times New Roman"/>
                <a:ea typeface="Times New Roman"/>
                <a:cs typeface="Times New Roman"/>
                <a:sym typeface="Times New Roman"/>
              </a:rPr>
              <a:t>OBJECTIVES:</a:t>
            </a:r>
            <a:endParaRPr b="1" dirty="0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04" name="Google Shape;1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p>
            <a:pPr algn="just" lvl="0">
              <a:lnSpc>
                <a:spcPct val="200000"/>
              </a:lnSpc>
            </a:pPr>
            <a:r>
              <a:rPr dirty="0" sz="1800" lang="en-US">
                <a:latin typeface="Times New Roman"/>
                <a:ea typeface="Times New Roman"/>
                <a:cs typeface="Times New Roman"/>
                <a:sym typeface="Times New Roman"/>
              </a:rPr>
              <a:t>To analyze application Terms &amp; Conditions to detect permission-related disclosures.</a:t>
            </a:r>
          </a:p>
          <a:p>
            <a:pPr algn="just" lvl="0">
              <a:lnSpc>
                <a:spcPct val="200000"/>
              </a:lnSpc>
            </a:pPr>
            <a:r>
              <a:rPr dirty="0" sz="1800" lang="en-US">
                <a:latin typeface="Times New Roman"/>
                <a:ea typeface="Times New Roman"/>
                <a:cs typeface="Times New Roman"/>
                <a:sym typeface="Times New Roman"/>
              </a:rPr>
              <a:t>To identify manipulative keywords and statements used to obtain user consent.</a:t>
            </a:r>
          </a:p>
          <a:p>
            <a:pPr algn="just" lvl="0">
              <a:lnSpc>
                <a:spcPct val="200000"/>
              </a:lnSpc>
            </a:pPr>
            <a:r>
              <a:rPr dirty="0" sz="1800" lang="en-US">
                <a:latin typeface="Times New Roman"/>
                <a:ea typeface="Times New Roman"/>
                <a:cs typeface="Times New Roman"/>
                <a:sym typeface="Times New Roman"/>
              </a:rPr>
              <a:t>To classify privacy risks based on extracted keywords and policy content. </a:t>
            </a:r>
          </a:p>
          <a:p>
            <a:pPr algn="just" lvl="0">
              <a:lnSpc>
                <a:spcPct val="200000"/>
              </a:lnSpc>
            </a:pPr>
            <a:r>
              <a:rPr dirty="0" sz="1800" lang="en-US">
                <a:latin typeface="Times New Roman"/>
                <a:ea typeface="Times New Roman"/>
                <a:cs typeface="Times New Roman"/>
                <a:sym typeface="Times New Roman"/>
              </a:rPr>
              <a:t>To generate a simple and understandable permission risk report for users.</a:t>
            </a:r>
            <a:endParaRPr dirty="0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b="1" dirty="0" sz="2800" lang="en-US" spc="-1">
                <a:latin typeface="Times New Roman"/>
                <a:ea typeface="Times New Roman"/>
              </a:rPr>
              <a:t>SCOPE:</a:t>
            </a:r>
            <a:endParaRPr dirty="0" sz="2800" lang="en-IN"/>
          </a:p>
        </p:txBody>
      </p:sp>
      <p:sp>
        <p:nvSpPr>
          <p:cNvPr id="1048608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>
              <a:lnSpc>
                <a:spcPct val="150000"/>
              </a:lnSpc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Automatic Analysis – The system automatically analyzes mobile application permissions and privacy policies to identify potential privacy risks.</a:t>
            </a:r>
          </a:p>
          <a:p>
            <a:pPr>
              <a:lnSpc>
                <a:spcPct val="150000"/>
              </a:lnSpc>
            </a:pPr>
            <a:endParaRPr dirty="0"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User Privacy Awareness – It helps users understand how applications may collect, store, or share their personal data before installing them.</a:t>
            </a:r>
          </a:p>
          <a:p>
            <a:endParaRPr dirty="0"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NLP-Based Policy Understanding – Uses Natural Language Processing techniques to simplify complex privacy policy texts and extract important information.</a:t>
            </a:r>
          </a:p>
          <a:p>
            <a:endParaRPr dirty="0" sz="1800"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>
          <a:xfrm>
            <a:off x="311700" y="437468"/>
            <a:ext cx="8520600" cy="572700"/>
          </a:xfrm>
        </p:spPr>
        <p:txBody>
          <a:bodyPr>
            <a:noAutofit/>
          </a:bodyPr>
          <a:p>
            <a:r>
              <a:rPr b="1" dirty="0" sz="2800" lang="en-US" spc="-1">
                <a:latin typeface="Times New Roman"/>
                <a:ea typeface="Times New Roman"/>
              </a:rPr>
              <a:t>SCOPE:</a:t>
            </a:r>
            <a:endParaRPr dirty="0" sz="2800" lang="en-IN"/>
          </a:p>
        </p:txBody>
      </p:sp>
      <p:sp>
        <p:nvSpPr>
          <p:cNvPr id="1048610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Risk Identification – Highlights sensitive permissions and privacy-related issues that may affect user data security.</a:t>
            </a:r>
          </a:p>
          <a:p>
            <a:endParaRPr dirty="0"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Future Expansion – The system can be extended to integrate with app stores, real-time permission monitoring, and advanced machine learning models for improved risk detection.</a:t>
            </a:r>
            <a:endParaRPr dirty="0" sz="1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114300">
              <a:buNone/>
            </a:pPr>
            <a:endParaRPr dirty="0" sz="1800"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b="1" dirty="0" sz="2800" lang="en-US" spc="-1">
                <a:latin typeface="Times New Roman"/>
                <a:ea typeface="Times New Roman"/>
              </a:rPr>
              <a:t>EXISTING SYSTEM:</a:t>
            </a:r>
            <a:endParaRPr dirty="0" sz="2800" lang="en-IN"/>
          </a:p>
        </p:txBody>
      </p:sp>
      <p:sp>
        <p:nvSpPr>
          <p:cNvPr id="1048612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Users install apps quickly without reading permissions or privacy policies.</a:t>
            </a:r>
          </a:p>
          <a:p>
            <a:endParaRPr dirty="0"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Terms &amp; Conditions are long and complex, so most users just click “Accept.”</a:t>
            </a:r>
          </a:p>
          <a:p>
            <a:endParaRPr dirty="0"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App stores like Google Play Store only show permission lists but don’t explain privacy risks.</a:t>
            </a:r>
          </a:p>
          <a:p>
            <a:endParaRPr dirty="0"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Security tools mainly detect malware and do not analyze privacy policies.</a:t>
            </a:r>
          </a:p>
          <a:p>
            <a:endParaRPr dirty="0" sz="1800"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b="1" dirty="0" sz="2800" lang="en-US" spc="-1">
                <a:latin typeface="Times New Roman"/>
                <a:ea typeface="Times New Roman"/>
              </a:rPr>
              <a:t>EXISTING SYSTEM:</a:t>
            </a:r>
            <a:br>
              <a:rPr b="1" dirty="0" sz="2800" lang="en-US" spc="-1">
                <a:latin typeface="Times New Roman"/>
                <a:ea typeface="Times New Roman"/>
              </a:rPr>
            </a:br>
            <a:endParaRPr dirty="0" sz="2800" lang="en-IN"/>
          </a:p>
        </p:txBody>
      </p:sp>
      <p:sp>
        <p:nvSpPr>
          <p:cNvPr id="1048614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Because of this, users don’t know how their data is collected or used.</a:t>
            </a:r>
          </a:p>
          <a:p>
            <a:endParaRPr dirty="0"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Apps may share user data with third parties without users realizing it.</a:t>
            </a:r>
          </a:p>
          <a:p>
            <a:endParaRPr dirty="0"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privacy risks and hidden data collection problems.</a:t>
            </a:r>
            <a:endParaRPr dirty="0" sz="1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1800"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115;p4"/>
          <p:cNvSpPr txBox="1">
            <a:spLocks noGrp="1"/>
          </p:cNvSpPr>
          <p:nvPr>
            <p:ph type="title"/>
          </p:nvPr>
        </p:nvSpPr>
        <p:spPr>
          <a:xfrm>
            <a:off x="261936" y="433137"/>
            <a:ext cx="8489156" cy="786063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dirty="0" sz="2800" lang="en-US">
                <a:latin typeface="Times New Roman"/>
                <a:ea typeface="Times New Roman"/>
                <a:cs typeface="Times New Roman"/>
                <a:sym typeface="Times New Roman"/>
              </a:rPr>
              <a:t>LITERATURE SURVEY OF THE BASE PAPER:</a:t>
            </a:r>
            <a:endParaRPr dirty="0" sz="2800"/>
          </a:p>
        </p:txBody>
      </p:sp>
      <p:graphicFrame>
        <p:nvGraphicFramePr>
          <p:cNvPr id="4194305" name="Google Shape;116;p4"/>
          <p:cNvGraphicFramePr>
            <a:graphicFrameLocks/>
          </p:cNvGraphicFramePr>
          <p:nvPr/>
        </p:nvGraphicFramePr>
        <p:xfrm>
          <a:off x="216939" y="1319990"/>
          <a:ext cx="8769898" cy="2801914"/>
        </p:xfrm>
        <a:graphic>
          <a:graphicData uri="http://schemas.openxmlformats.org/drawingml/2006/table">
            <a:tbl>
              <a:tblPr firstRow="1" bandRow="1">
                <a:noFill/>
                <a:tableStyleId>{0249A9FF-567A-444A-8109-AF22E70E8050}</a:tableStyleId>
              </a:tblPr>
              <a:tblGrid>
                <a:gridCol w="535229"/>
                <a:gridCol w="1143000"/>
                <a:gridCol w="1157748"/>
                <a:gridCol w="634181"/>
                <a:gridCol w="1452716"/>
                <a:gridCol w="1703439"/>
                <a:gridCol w="1091380"/>
                <a:gridCol w="1052205"/>
              </a:tblGrid>
              <a:tr h="523715"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MERITS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DEMERITS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78199"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4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 cap="none" dirty="0" sz="14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0" cap="none" dirty="0" sz="1400" i="0" lang="en-US" strike="noStrike" u="none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Automated</a:t>
                      </a:r>
                    </a:p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0" cap="none" dirty="0" sz="1400" i="0" lang="en-US" strike="noStrike" u="none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Identification of security &amp; privacy requirement from software engineering contracts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sz="140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Preethu Rose Anish,</a:t>
                      </a:r>
                    </a:p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sz="140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Aparna </a:t>
                      </a:r>
                      <a:r>
                        <a:rPr dirty="0" sz="1400"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verma</a:t>
                      </a:r>
                      <a:r>
                        <a:rPr dirty="0" sz="140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dirty="0" sz="1400"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Sivanthy</a:t>
                      </a:r>
                      <a:r>
                        <a:rPr dirty="0" sz="140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V., </a:t>
                      </a:r>
                      <a:r>
                        <a:rPr dirty="0" sz="1400"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logamuruga</a:t>
                      </a:r>
                      <a:r>
                        <a:rPr dirty="0" sz="140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v., </a:t>
                      </a:r>
                      <a:r>
                        <a:rPr dirty="0" sz="1400"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smitha</a:t>
                      </a:r>
                      <a:r>
                        <a:rPr dirty="0" sz="140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dirty="0" sz="1400"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ghaisas</a:t>
                      </a:r>
                      <a:endParaRPr dirty="0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4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2023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4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Natural Language Processing</a:t>
                      </a:r>
                    </a:p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4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Contract sentence extraction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4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Extracts privacy and security requirements automatically from software engineering contract documents using NLP; contracts treated as text source to find requirement sentences.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400" lang="en-IN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Automatic extraction  Saves time  Improves requirement detection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dirty="0" sz="140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legal language  Accuracy may vary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>
          <a:xfrm>
            <a:off x="300446" y="273844"/>
            <a:ext cx="8214904" cy="994172"/>
          </a:xfrm>
        </p:spPr>
        <p:txBody>
          <a:bodyPr>
            <a:normAutofit/>
          </a:bodyPr>
          <a:p>
            <a:r>
              <a:rPr b="1" dirty="0" sz="2800" lang="en-US">
                <a:latin typeface="Times New Roman"/>
                <a:ea typeface="Times New Roman"/>
                <a:cs typeface="Times New Roman"/>
                <a:sym typeface="Times New Roman"/>
              </a:rPr>
              <a:t>LITERATURE SURVEY OF THE BASE PAPER:</a:t>
            </a:r>
            <a:endParaRPr dirty="0" sz="2800" lang="en-IN"/>
          </a:p>
        </p:txBody>
      </p:sp>
      <p:graphicFrame>
        <p:nvGraphicFramePr>
          <p:cNvPr id="4194306" name="Google Shape;116;p4"/>
          <p:cNvGraphicFramePr>
            <a:graphicFrameLocks/>
          </p:cNvGraphicFramePr>
          <p:nvPr/>
        </p:nvGraphicFramePr>
        <p:xfrm>
          <a:off x="216939" y="1408476"/>
          <a:ext cx="8769898" cy="2809289"/>
        </p:xfrm>
        <a:graphic>
          <a:graphicData uri="http://schemas.openxmlformats.org/drawingml/2006/table">
            <a:tbl>
              <a:tblPr firstRow="1" bandRow="1">
                <a:noFill/>
                <a:tableStyleId>{0249A9FF-567A-444A-8109-AF22E70E8050}</a:tableStyleId>
              </a:tblPr>
              <a:tblGrid>
                <a:gridCol w="547442"/>
                <a:gridCol w="1107282"/>
                <a:gridCol w="1042987"/>
                <a:gridCol w="671513"/>
                <a:gridCol w="1457325"/>
                <a:gridCol w="1713723"/>
                <a:gridCol w="1114813"/>
                <a:gridCol w="1114813"/>
              </a:tblGrid>
              <a:tr h="525093"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MERITS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DEMERITS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84196"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4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 cap="none" dirty="0" sz="14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Analysis of Android Application Privacy Policy and Permission Consistency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 Li, J. Zhang, and H. Chen</a:t>
                      </a:r>
                      <a:endParaRPr dirty="0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4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2024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NLP and </a:t>
                      </a:r>
                      <a:r>
                        <a:rPr dirty="0"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TextCNN</a:t>
                      </a: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compare privacy policy statements with app permissions.</a:t>
                      </a:r>
                      <a:endParaRPr cap="none" dirty="0" sz="1400" lang="en-US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Finds mismatches between permissions requested and policy explanations.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transparency and detects privacy risks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datasets and training for deep learning models.</a:t>
                      </a:r>
                      <a:endParaRPr dirty="0" sz="1400"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274320" y="0"/>
            <a:ext cx="8241031" cy="978568"/>
          </a:xfrm>
        </p:spPr>
        <p:txBody>
          <a:bodyPr>
            <a:normAutofit/>
          </a:bodyPr>
          <a:p>
            <a:r>
              <a:rPr b="1" dirty="0" sz="2800" lang="en-US">
                <a:latin typeface="Times New Roman"/>
                <a:ea typeface="Times New Roman"/>
                <a:cs typeface="Times New Roman"/>
                <a:sym typeface="Times New Roman"/>
              </a:rPr>
              <a:t>LITERATURE SURVEY OF THE BASE PAPER:</a:t>
            </a:r>
            <a:endParaRPr dirty="0" sz="2800" lang="en-IN"/>
          </a:p>
        </p:txBody>
      </p:sp>
      <p:graphicFrame>
        <p:nvGraphicFramePr>
          <p:cNvPr id="4194307" name="Google Shape;116;p4"/>
          <p:cNvGraphicFramePr>
            <a:graphicFrameLocks/>
          </p:cNvGraphicFramePr>
          <p:nvPr/>
        </p:nvGraphicFramePr>
        <p:xfrm>
          <a:off x="238255" y="978568"/>
          <a:ext cx="8624051" cy="3792535"/>
        </p:xfrm>
        <a:graphic>
          <a:graphicData uri="http://schemas.openxmlformats.org/drawingml/2006/table">
            <a:tbl>
              <a:tblPr firstRow="1" bandRow="1">
                <a:noFill/>
                <a:tableStyleId>{0249A9FF-567A-444A-8109-AF22E70E8050}</a:tableStyleId>
              </a:tblPr>
              <a:tblGrid>
                <a:gridCol w="538338"/>
                <a:gridCol w="1088868"/>
                <a:gridCol w="1025642"/>
                <a:gridCol w="660345"/>
                <a:gridCol w="1477752"/>
                <a:gridCol w="1640560"/>
                <a:gridCol w="1096273"/>
                <a:gridCol w="1096273"/>
              </a:tblGrid>
              <a:tr h="550263"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MERITS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DEMERITS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42272"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4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</a:t>
                      </a:r>
                      <a:endParaRPr cap="none" dirty="0" sz="14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Analysis Framework for Permission-Based Dataset Generation and Android Malware Detection using Machine Learning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Amarjyoti Pathak, Th. Shanta Kumar, and Utpal Barman</a:t>
                      </a:r>
                      <a:b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dirty="0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4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2024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machine learning and static analysis to study Android app permissions.</a:t>
                      </a:r>
                      <a:endParaRPr cap="none" dirty="0" sz="1400" lang="en-US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Permission patterns help identify malicious apps.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detection accuracy and automates security analysis.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detect hidden runtime behavior.</a:t>
                      </a:r>
                      <a:endParaRPr dirty="0" sz="1400"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>
          <a:xfrm>
            <a:off x="261257" y="244347"/>
            <a:ext cx="8254093" cy="994172"/>
          </a:xfrm>
        </p:spPr>
        <p:txBody>
          <a:bodyPr>
            <a:normAutofit/>
          </a:bodyPr>
          <a:p>
            <a:r>
              <a:rPr b="1" dirty="0" sz="2800" lang="en-US">
                <a:latin typeface="Times New Roman"/>
                <a:ea typeface="Times New Roman"/>
                <a:cs typeface="Times New Roman"/>
                <a:sym typeface="Times New Roman"/>
              </a:rPr>
              <a:t>LITERATURE SURVEY OF THE BASE PAPER:</a:t>
            </a:r>
            <a:endParaRPr dirty="0" sz="2800" lang="en-IN"/>
          </a:p>
        </p:txBody>
      </p:sp>
      <p:graphicFrame>
        <p:nvGraphicFramePr>
          <p:cNvPr id="4194308" name="Google Shape;116;p4"/>
          <p:cNvGraphicFramePr>
            <a:graphicFrameLocks/>
          </p:cNvGraphicFramePr>
          <p:nvPr/>
        </p:nvGraphicFramePr>
        <p:xfrm>
          <a:off x="261257" y="1304533"/>
          <a:ext cx="8698388" cy="2795239"/>
        </p:xfrm>
        <a:graphic>
          <a:graphicData uri="http://schemas.openxmlformats.org/drawingml/2006/table">
            <a:tbl>
              <a:tblPr firstRow="1" bandRow="1">
                <a:noFill/>
                <a:tableStyleId>{0249A9FF-567A-444A-8109-AF22E70E8050}</a:tableStyleId>
              </a:tblPr>
              <a:tblGrid>
                <a:gridCol w="547442"/>
                <a:gridCol w="1174959"/>
                <a:gridCol w="975310"/>
                <a:gridCol w="671513"/>
                <a:gridCol w="1457325"/>
                <a:gridCol w="1713723"/>
                <a:gridCol w="1051987"/>
                <a:gridCol w="1106129"/>
              </a:tblGrid>
              <a:tr h="522467"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S.NO</a:t>
                      </a:r>
                      <a:endParaRPr b="1" cap="none" dirty="0" sz="12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TITLE</a:t>
                      </a:r>
                      <a:endParaRPr b="1" cap="none" dirty="0" sz="12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AUTHORS</a:t>
                      </a:r>
                      <a:endParaRPr b="1" cap="none" dirty="0" sz="12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YEAR</a:t>
                      </a:r>
                      <a:endParaRPr b="1" cap="none" dirty="0" sz="12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METHODOLOGY</a:t>
                      </a:r>
                      <a:endParaRPr b="1" cap="none" dirty="0" sz="12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INFERENCE</a:t>
                      </a:r>
                      <a:endParaRPr b="1" cap="none" dirty="0" sz="12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MERITS</a:t>
                      </a:r>
                      <a:endParaRPr b="1" cap="none" dirty="0" sz="12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DEMERITS</a:t>
                      </a:r>
                      <a:endParaRPr b="1" cap="none" dirty="0" sz="12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72772"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4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4.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dirty="0" sz="140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on Android User Privacy Permission Analysis and Protection Mechanism under Big Data Environment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sz="1400" lang="de-D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Mei Liu and Qun Wang</a:t>
                      </a:r>
                      <a:br>
                        <a:rPr dirty="0" sz="1400" lang="de-D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dirty="0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4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2024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sz="140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Analyzes Android permissions using big data techniques.</a:t>
                      </a:r>
                      <a:endParaRPr cap="none" dirty="0" sz="1400" lang="en-US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sz="140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 permission management improves user privacy protection.</a:t>
                      </a:r>
                      <a:br>
                        <a:rPr dirty="0" sz="140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sz="140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privacy protection strategies.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dirty="0" sz="140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additional system resources.</a:t>
                      </a:r>
                      <a:endParaRPr dirty="0" sz="1400"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195943" y="273844"/>
            <a:ext cx="8319407" cy="994172"/>
          </a:xfrm>
        </p:spPr>
        <p:txBody>
          <a:bodyPr>
            <a:normAutofit/>
          </a:bodyPr>
          <a:p>
            <a:r>
              <a:rPr b="1" dirty="0" sz="2800" lang="en-US">
                <a:latin typeface="Times New Roman"/>
                <a:ea typeface="Times New Roman"/>
                <a:cs typeface="Times New Roman"/>
                <a:sym typeface="Times New Roman"/>
              </a:rPr>
              <a:t>LITERATURE SURVEY OF THE BASE PAPER:</a:t>
            </a:r>
            <a:endParaRPr dirty="0" sz="2800" lang="en-IN"/>
          </a:p>
        </p:txBody>
      </p:sp>
      <p:graphicFrame>
        <p:nvGraphicFramePr>
          <p:cNvPr id="4194309" name="Google Shape;116;p4"/>
          <p:cNvGraphicFramePr>
            <a:graphicFrameLocks/>
          </p:cNvGraphicFramePr>
          <p:nvPr/>
        </p:nvGraphicFramePr>
        <p:xfrm>
          <a:off x="209565" y="1467468"/>
          <a:ext cx="8769898" cy="2816663"/>
        </p:xfrm>
        <a:graphic>
          <a:graphicData uri="http://schemas.openxmlformats.org/drawingml/2006/table">
            <a:tbl>
              <a:tblPr firstRow="1" bandRow="1">
                <a:noFill/>
                <a:tableStyleId>{0249A9FF-567A-444A-8109-AF22E70E8050}</a:tableStyleId>
              </a:tblPr>
              <a:tblGrid>
                <a:gridCol w="542603"/>
                <a:gridCol w="1112121"/>
                <a:gridCol w="1042987"/>
                <a:gridCol w="632337"/>
                <a:gridCol w="1452716"/>
                <a:gridCol w="1386348"/>
                <a:gridCol w="1393723"/>
                <a:gridCol w="1207063"/>
              </a:tblGrid>
              <a:tr h="526471"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MERITS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dirty="0" sz="12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DEMERITS</a:t>
                      </a:r>
                      <a:endParaRPr b="1" cap="none" dirty="0" sz="12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90192"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400" lang="en-US" strike="noStrike" u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</a:t>
                      </a:r>
                      <a:endParaRPr cap="none" dirty="0" sz="1400" strike="noStrike" u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Harnessing Language Models to Analyze Android App Permission Fidelity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Ritwik Banerjee, Ethan Myers, and Indrakshi Ray</a:t>
                      </a:r>
                      <a:endParaRPr dirty="0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dirty="0" sz="1400" lang="en-US" strike="noStrike" u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2025</a:t>
                      </a: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large language models to </a:t>
                      </a:r>
                      <a:r>
                        <a:rPr dirty="0" lang="en-IN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  <a:r>
                        <a:rPr dirty="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app descriptions and permissions.</a:t>
                      </a:r>
                      <a:br>
                        <a:rPr dirty="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cap="none" dirty="0" sz="1400" lang="en-US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 models improve permission analysis accuracy.</a:t>
                      </a:r>
                      <a:br>
                        <a:rPr dirty="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accuracy and better context understanding.</a:t>
                      </a:r>
                      <a:b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cap="none" dirty="0" sz="1400" strike="noStrike" u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algn="l" indent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dirty="0"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high computational power and large datasets.</a:t>
                      </a:r>
                      <a:endParaRPr dirty="0" sz="1400"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>
          <a:xfrm>
            <a:off x="464576" y="273844"/>
            <a:ext cx="7873795" cy="752851"/>
          </a:xfrm>
        </p:spPr>
        <p:txBody>
          <a:bodyPr>
            <a:normAutofit/>
          </a:bodyPr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 DIAGRAM :</a:t>
            </a:r>
            <a:endParaRPr b="1"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4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40106" y="943896"/>
            <a:ext cx="8708923" cy="3428673"/>
          </a:xfrm>
          <a:prstGeom prst="rect"/>
        </p:spPr>
      </p:pic>
      <p:pic>
        <p:nvPicPr>
          <p:cNvPr id="2097155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40109" y="951273"/>
            <a:ext cx="8849029" cy="3185324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b="1" dirty="0" sz="2800" lang="en-US" spc="-1">
                <a:latin typeface="Times New Roman"/>
                <a:ea typeface="Times New Roman"/>
              </a:rPr>
              <a:t>PROPOSED SYSTEM:</a:t>
            </a:r>
            <a:endParaRPr dirty="0" sz="2800" lang="en-IN"/>
          </a:p>
        </p:txBody>
      </p:sp>
      <p:sp>
        <p:nvSpPr>
          <p:cNvPr id="1048628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pPr>
              <a:lnSpc>
                <a:spcPct val="200000"/>
              </a:lnSpc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 Secure Mobile Application Permission Analyzer using Natural         Language Processing (NLP).</a:t>
            </a:r>
          </a:p>
          <a:p>
            <a:pPr>
              <a:lnSpc>
                <a:spcPct val="200000"/>
              </a:lnSpc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extracts text from Terms &amp; Conditions and privacy policies.</a:t>
            </a:r>
          </a:p>
          <a:p>
            <a:pPr>
              <a:lnSpc>
                <a:spcPct val="200000"/>
              </a:lnSpc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uses NLP to find keywords related to data collection, tracking, and data sharing.</a:t>
            </a:r>
          </a:p>
          <a:p>
            <a:pPr>
              <a:lnSpc>
                <a:spcPct val="200000"/>
              </a:lnSpc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sensitive permissions like location, contacts, camera, and microphone.</a:t>
            </a:r>
          </a:p>
          <a:p>
            <a:pPr indent="0" marL="114300">
              <a:lnSpc>
                <a:spcPct val="200000"/>
              </a:lnSpc>
              <a:buNone/>
            </a:pPr>
            <a:endParaRPr dirty="0"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dirty="0" sz="1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b="1" dirty="0" sz="2800" lang="en-US" spc="-1">
                <a:latin typeface="Times New Roman"/>
                <a:ea typeface="Times New Roman"/>
              </a:rPr>
              <a:t>PROPOSED SYSTEM:</a:t>
            </a:r>
            <a:endParaRPr dirty="0" sz="2800" lang="en-IN"/>
          </a:p>
        </p:txBody>
      </p:sp>
      <p:sp>
        <p:nvSpPr>
          <p:cNvPr id="1048630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>
              <a:lnSpc>
                <a:spcPct val="200000"/>
              </a:lnSpc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compares permissions with statements in the privacy policy.</a:t>
            </a:r>
          </a:p>
          <a:p>
            <a:pPr>
              <a:lnSpc>
                <a:spcPct val="200000"/>
              </a:lnSpc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classifies apps into risk levels – Low, Medium, or High privacy risk.</a:t>
            </a:r>
          </a:p>
          <a:p>
            <a:pPr>
              <a:lnSpc>
                <a:spcPct val="200000"/>
              </a:lnSpc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a simple report explaining the privacy risks to the user.</a:t>
            </a:r>
          </a:p>
          <a:p>
            <a:pPr>
              <a:lnSpc>
                <a:spcPct val="150000"/>
              </a:lnSpc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helps users understand privacy issues before installing an app and improves security.</a:t>
            </a:r>
          </a:p>
          <a:p>
            <a:pPr>
              <a:lnSpc>
                <a:spcPct val="200000"/>
              </a:lnSpc>
            </a:pPr>
            <a:endParaRPr dirty="0" sz="1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LIST OF MODULES :</a:t>
            </a:r>
            <a:endParaRPr dirty="0" sz="2800" lang="en-IN"/>
          </a:p>
        </p:txBody>
      </p:sp>
      <p:sp>
        <p:nvSpPr>
          <p:cNvPr id="1048632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>
              <a:lnSpc>
                <a:spcPct val="150000"/>
              </a:lnSpc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Collection.</a:t>
            </a:r>
          </a:p>
          <a:p>
            <a:pPr>
              <a:lnSpc>
                <a:spcPct val="15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Text Processing.</a:t>
            </a:r>
          </a:p>
          <a:p>
            <a:pPr>
              <a:lnSpc>
                <a:spcPct val="15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Permission Analysis.</a:t>
            </a:r>
          </a:p>
          <a:p>
            <a:pPr>
              <a:lnSpc>
                <a:spcPct val="15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Risk Classification And Report Generation.</a:t>
            </a:r>
            <a:endParaRPr dirty="0"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DESCRIPTION:</a:t>
            </a:r>
            <a:endParaRPr dirty="0" sz="2800" lang="en-IN"/>
          </a:p>
        </p:txBody>
      </p:sp>
      <p:sp>
        <p:nvSpPr>
          <p:cNvPr id="1048634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 indent="0" marL="114300">
              <a:lnSpc>
                <a:spcPct val="100000"/>
              </a:lnSpc>
              <a:buNone/>
            </a:pPr>
            <a:r>
              <a:rPr b="1"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Collection :</a:t>
            </a:r>
          </a:p>
          <a:p>
            <a:pPr indent="0" marL="114300">
              <a:lnSpc>
                <a:spcPct val="100000"/>
              </a:lnSpc>
              <a:buNone/>
            </a:pPr>
            <a:endParaRPr b="1" dirty="0"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114300">
              <a:lnSpc>
                <a:spcPct val="100000"/>
              </a:lnSpc>
              <a:buNone/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Collects mobile app permissions and privacy policy/terms text.</a:t>
            </a:r>
          </a:p>
          <a:p>
            <a:pPr indent="0" marL="114300">
              <a:lnSpc>
                <a:spcPct val="100000"/>
              </a:lnSpc>
              <a:buNone/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</a:p>
          <a:p>
            <a:pPr indent="0" marL="114300">
              <a:lnSpc>
                <a:spcPct val="100000"/>
              </a:lnSpc>
              <a:buNone/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Extracts data from app files or store descriptions.</a:t>
            </a:r>
          </a:p>
          <a:p>
            <a:pPr indent="0" marL="114300">
              <a:lnSpc>
                <a:spcPct val="100000"/>
              </a:lnSpc>
              <a:buNone/>
            </a:pPr>
            <a:endParaRPr dirty="0"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114300">
              <a:lnSpc>
                <a:spcPct val="100000"/>
              </a:lnSpc>
              <a:buNone/>
            </a:pPr>
            <a:r>
              <a:rPr b="1"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Module 2: Text Preprocessing ( NLP ) :</a:t>
            </a:r>
          </a:p>
          <a:p>
            <a:pPr indent="0" marL="114300">
              <a:lnSpc>
                <a:spcPct val="100000"/>
              </a:lnSpc>
              <a:buNone/>
            </a:pPr>
            <a:endParaRPr b="1" dirty="0"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114300">
              <a:lnSpc>
                <a:spcPct val="100000"/>
              </a:lnSpc>
              <a:buNone/>
            </a:pPr>
            <a:r>
              <a:rPr b="1"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Cleans and processes privacy policy text.</a:t>
            </a:r>
          </a:p>
          <a:p>
            <a:pPr indent="0" marL="114300">
              <a:lnSpc>
                <a:spcPct val="100000"/>
              </a:lnSpc>
              <a:buNone/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pPr indent="0" marL="114300">
              <a:lnSpc>
                <a:spcPct val="100000"/>
              </a:lnSpc>
              <a:buNone/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Identifies keywords related to data collection, tracking, and sharing.</a:t>
            </a:r>
          </a:p>
          <a:p>
            <a:pPr indent="0" marL="114300">
              <a:buNone/>
            </a:pPr>
            <a:endParaRPr b="1" dirty="0"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DESCRIPTION:</a:t>
            </a:r>
            <a:endParaRPr dirty="0" sz="2800" lang="en-IN"/>
          </a:p>
        </p:txBody>
      </p:sp>
      <p:sp>
        <p:nvSpPr>
          <p:cNvPr id="1048636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175685"/>
          </a:xfrm>
        </p:spPr>
        <p:txBody>
          <a:bodyPr>
            <a:noAutofit/>
          </a:bodyPr>
          <a:p>
            <a:pPr indent="0" marL="114300">
              <a:buNone/>
            </a:pPr>
            <a:r>
              <a:rPr b="1"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Module 3: Permission Analysis :</a:t>
            </a:r>
          </a:p>
          <a:p>
            <a:pPr indent="0" marL="114300">
              <a:buNone/>
            </a:pPr>
            <a:endParaRPr b="1" dirty="0" sz="1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114300">
              <a:buNone/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Analyzes sensitive permissions like location, camera, contacts, microphone.</a:t>
            </a:r>
          </a:p>
          <a:p>
            <a:pPr indent="0" marL="114300">
              <a:buNone/>
            </a:pPr>
            <a:endParaRPr dirty="0"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114300">
              <a:buNone/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Compares permissions with statements in the privacy policy.</a:t>
            </a:r>
          </a:p>
          <a:p>
            <a:pPr indent="0" marL="114300">
              <a:buNone/>
            </a:pPr>
            <a:endParaRPr dirty="0" sz="1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114300">
              <a:buNone/>
            </a:pPr>
            <a:r>
              <a:rPr b="1"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Module 4: Risk Classification &amp; Report Generation :</a:t>
            </a:r>
          </a:p>
          <a:p>
            <a:pPr indent="0" marL="114300">
              <a:buNone/>
            </a:pPr>
            <a:endParaRPr b="1" dirty="0" sz="1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114300">
              <a:buNone/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Classifies apps as Safe, Moderate Risk, or High Risk.</a:t>
            </a:r>
          </a:p>
          <a:p>
            <a:pPr indent="0" marL="114300">
              <a:buNone/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</a:p>
          <a:p>
            <a:pPr indent="0" marL="114300">
              <a:buNone/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Generates a user-friendly report or warning about privacy risks.</a:t>
            </a:r>
            <a:endParaRPr dirty="0" sz="1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114300">
              <a:buNone/>
            </a:pPr>
            <a:endParaRPr dirty="0" sz="1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114300">
              <a:buNone/>
            </a:pPr>
            <a:endParaRPr b="1" dirty="0" sz="1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114300">
              <a:buNone/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>
          <a:xfrm>
            <a:off x="311700" y="111034"/>
            <a:ext cx="8520600" cy="906691"/>
          </a:xfrm>
        </p:spPr>
        <p:txBody>
          <a:bodyPr>
            <a:noAutofit/>
          </a:bodyPr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MODULE 1: Permission, Privacy Policy and Terms &amp; Conditions Collection</a:t>
            </a:r>
            <a:b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b="1"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3377" y="438267"/>
            <a:ext cx="8537886" cy="4616648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 indent="-285750" marL="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Collects </a:t>
            </a:r>
            <a:r>
              <a:rPr altLang="en-US" baseline="0" b="1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privacy-related information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mobile applications.</a:t>
            </a:r>
          </a:p>
          <a:p>
            <a:pPr eaLnBrk="0" fontAlgn="base" hangingPunct="0" indent="-285750" marL="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Users can </a:t>
            </a:r>
            <a:r>
              <a:rPr altLang="en-US" baseline="0" b="1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an app by name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altLang="en-US" baseline="0" b="1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paste the privacy policy text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eaLnBrk="0" fontAlgn="base" hangingPunct="0" indent="-285750" marL="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The system retrieves </a:t>
            </a:r>
            <a:r>
              <a:rPr altLang="en-US" baseline="0" b="1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 permissions, privacy policy, and terms &amp; conditions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0" fontAlgn="base" hangingPunct="0" indent="-285750" marL="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Users can also </a:t>
            </a:r>
            <a:r>
              <a:rPr altLang="en-US" baseline="0" b="1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manually paste policies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the Paste Policy option.</a:t>
            </a:r>
          </a:p>
          <a:p>
            <a:pPr eaLnBrk="0" fontAlgn="base" hangingPunct="0" indent="-285750" marL="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The collected data is </a:t>
            </a:r>
            <a:r>
              <a:rPr altLang="en-US" baseline="0" b="1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stored and used for further analysis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later modules.</a:t>
            </a:r>
          </a:p>
          <a:p>
            <a:pPr eaLnBrk="0" fontAlgn="base" hangingPunct="0" indent="-285750" marL="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Helps </a:t>
            </a:r>
            <a:r>
              <a:rPr altLang="en-US" baseline="0" b="1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privacy risks and sensitive permission usage</a:t>
            </a:r>
            <a:r>
              <a:rPr altLang="en-US" baseline="0" b="0" cap="none" dirty="0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defTabSz="914400" eaLnBrk="0" fontAlgn="base" hangingPunct="0" indent="0" latinLnBrk="0" lvl="0" marL="0" marR="0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dirty="0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>
          <a:xfrm>
            <a:off x="311700" y="312292"/>
            <a:ext cx="8520600" cy="572701"/>
          </a:xfrm>
        </p:spPr>
        <p:txBody>
          <a:bodyPr>
            <a:normAutofit fontScale="90000"/>
          </a:bodyPr>
          <a:p>
            <a:r>
              <a:rPr b="1"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MODULE 1 : IMPLEMENTATION</a:t>
            </a:r>
            <a:endParaRPr dirty="0" lang="en-IN"/>
          </a:p>
        </p:txBody>
      </p:sp>
      <p:sp>
        <p:nvSpPr>
          <p:cNvPr id="1048640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pic>
        <p:nvPicPr>
          <p:cNvPr id="2097156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54726" y="1103811"/>
            <a:ext cx="8634548" cy="3540035"/>
          </a:xfrm>
          <a:prstGeom prst="rect"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50"/>
          </a:xfrm>
        </p:spPr>
        <p:txBody>
          <a:bodyPr>
            <a:normAutofit fontScale="90000"/>
          </a:bodyPr>
          <a:p>
            <a:r>
              <a:rPr b="1" dirty="0" sz="31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MODULE 2: Extract Text &amp; Privacy Related Policies</a:t>
            </a:r>
            <a:br>
              <a:rPr b="1"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 lang="en-IN"/>
          </a:p>
        </p:txBody>
      </p:sp>
      <p:sp>
        <p:nvSpPr>
          <p:cNvPr id="1048642" name="Text Placeholder 2"/>
          <p:cNvSpPr>
            <a:spLocks noGrp="1"/>
          </p:cNvSpPr>
          <p:nvPr>
            <p:ph type="body" idx="1"/>
          </p:nvPr>
        </p:nvSpPr>
        <p:spPr>
          <a:xfrm>
            <a:off x="311700" y="1293223"/>
            <a:ext cx="8520600" cy="3275651"/>
          </a:xfrm>
        </p:spPr>
        <p:txBody>
          <a:bodyPr>
            <a:normAutofit fontScale="92500" lnSpcReduction="10000"/>
          </a:bodyPr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acts as a filter to remove "noise" and irrelevant text.</a:t>
            </a:r>
          </a:p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uses NLP techniques to clean up spaces, symbols, and formatting.</a:t>
            </a:r>
          </a:p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checks if the text is actually a real privacy document.</a:t>
            </a:r>
          </a:p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extracts important keywords related to data tracking and sharing.</a:t>
            </a:r>
          </a:p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prevents the AI from wasting energy on junk or unrelated data.</a:t>
            </a:r>
          </a:p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correctly identifies if the input is a "Policy" or a "Permission" list.</a:t>
            </a:r>
          </a:p>
          <a:p>
            <a:pPr>
              <a:lnSpc>
                <a:spcPct val="200000"/>
              </a:lnSpc>
            </a:pPr>
            <a:endParaRPr dirty="0" sz="1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b="1" dirty="0" sz="3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MODULE 2 : IMPLEMENTATION</a:t>
            </a:r>
            <a:endParaRPr dirty="0" lang="en-IN"/>
          </a:p>
        </p:txBody>
      </p:sp>
      <p:sp>
        <p:nvSpPr>
          <p:cNvPr id="1048644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pic>
        <p:nvPicPr>
          <p:cNvPr id="2097157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41663" y="1097280"/>
            <a:ext cx="8667205" cy="3646169"/>
          </a:xfrm>
          <a:prstGeom prst="rect"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MODULE 3 : </a:t>
            </a:r>
            <a:r>
              <a:rPr b="1" dirty="0" sz="28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Permissions &amp; Risk Levels</a:t>
            </a:r>
            <a:b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 sz="2800" lang="en-IN"/>
          </a:p>
        </p:txBody>
      </p:sp>
      <p:sp>
        <p:nvSpPr>
          <p:cNvPr id="1048646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This is the </a:t>
            </a:r>
            <a:r>
              <a:rPr b="1"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"Brain"</a:t>
            </a: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 of the project powered by  AI.</a:t>
            </a:r>
          </a:p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calculates a risk score based on how sensitive the requested data is.</a:t>
            </a:r>
          </a:p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 AI understands the context of </a:t>
            </a:r>
            <a:r>
              <a:rPr dirty="0" sz="1800" i="1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 an app needs certain permissions.</a:t>
            </a:r>
          </a:p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detects hidden risks that a simple keyword search would definitely miss.</a:t>
            </a:r>
          </a:p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flags high-risk access requests like Microphone, Camera, or Contacts.</a:t>
            </a:r>
          </a:p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 module creates a smart explanation for every risk it identifies.</a:t>
            </a:r>
          </a:p>
          <a:p>
            <a:pPr indent="0" marL="114300">
              <a:lnSpc>
                <a:spcPct val="200000"/>
              </a:lnSpc>
              <a:buNone/>
            </a:pPr>
            <a:endParaRPr dirty="0" sz="1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b="1"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MODULE 3 : IMPLEMENTATION</a:t>
            </a:r>
            <a:endParaRPr dirty="0" lang="en-IN"/>
          </a:p>
        </p:txBody>
      </p:sp>
      <p:sp>
        <p:nvSpPr>
          <p:cNvPr id="1048648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pic>
        <p:nvPicPr>
          <p:cNvPr id="2097158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64464" y="1097280"/>
            <a:ext cx="8615072" cy="3601195"/>
          </a:xfrm>
          <a:prstGeom prst="rect"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MODULE 4 :Identify Risk Patterns &amp; Generation Report</a:t>
            </a:r>
            <a:b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 sz="2800" lang="en-IN"/>
          </a:p>
        </p:txBody>
      </p:sp>
      <p:sp>
        <p:nvSpPr>
          <p:cNvPr id="1048650" name="Text Placeholder 2"/>
          <p:cNvSpPr>
            <a:spLocks noGrp="1"/>
          </p:cNvSpPr>
          <p:nvPr>
            <p:ph type="body" idx="1"/>
          </p:nvPr>
        </p:nvSpPr>
        <p:spPr>
          <a:xfrm>
            <a:off x="311700" y="1547949"/>
            <a:ext cx="8520600" cy="3376748"/>
          </a:xfrm>
        </p:spPr>
        <p:txBody>
          <a:bodyPr>
            <a:normAutofit lnSpcReduction="10000"/>
          </a:bodyPr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takes complex AI data and turns it into a visual dashboard.</a:t>
            </a:r>
          </a:p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displays a color-coded </a:t>
            </a:r>
            <a:r>
              <a:rPr b="1"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Risk Meter</a:t>
            </a: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 for quick visual understanding.</a:t>
            </a:r>
          </a:p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 module generates bar charts to show a summary of all identified risks.</a:t>
            </a:r>
          </a:p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list of actionable steps to help the user stay safe.</a:t>
            </a:r>
          </a:p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gives a final "Acceptance Level" (High, Medium, or Low) for the app.</a:t>
            </a:r>
          </a:p>
          <a:p>
            <a:pPr lvl="0">
              <a:lnSpc>
                <a:spcPct val="200000"/>
              </a:lnSpc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make the final report clear and easy for non-technical users.</a:t>
            </a:r>
          </a:p>
          <a:p>
            <a:pPr>
              <a:lnSpc>
                <a:spcPct val="200000"/>
              </a:lnSpc>
            </a:pPr>
            <a:endParaRPr dirty="0" sz="1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311700" y="97972"/>
            <a:ext cx="8520600" cy="568234"/>
          </a:xfrm>
        </p:spPr>
        <p:txBody>
          <a:bodyPr>
            <a:noAutofit/>
          </a:bodyPr>
          <a:p>
            <a:r>
              <a:rPr b="1" dirty="0" sz="2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MODULE 4 : IMPLEMENTATION</a:t>
            </a:r>
            <a:endParaRPr dirty="0" sz="2800" lang="en-IN"/>
          </a:p>
        </p:txBody>
      </p:sp>
      <p:sp>
        <p:nvSpPr>
          <p:cNvPr id="1048652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pic>
        <p:nvPicPr>
          <p:cNvPr id="2097159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22069" y="666206"/>
            <a:ext cx="8725988" cy="2664823"/>
          </a:xfrm>
          <a:prstGeom prst="rect"/>
        </p:spPr>
      </p:pic>
      <p:pic>
        <p:nvPicPr>
          <p:cNvPr id="2097160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222069" y="3262937"/>
            <a:ext cx="8725988" cy="1459285"/>
          </a:xfrm>
          <a:prstGeom prst="rect"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1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noFill/>
          <a:ln>
            <a:noFill/>
          </a:ln>
        </p:spPr>
        <p:txBody>
          <a:bodyPr anchor="t" anchorCtr="0" bIns="91425" lIns="91425" rIns="91425" spcFirstLastPara="1" tIns="91425" wrap="square">
            <a:normAutofit fontScale="90000"/>
          </a:bodyPr>
          <a:p>
            <a:pPr lvl="0"/>
            <a:r>
              <a:rPr b="1" dirty="0" sz="3100"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REFERENCES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:</a:t>
            </a:r>
          </a:p>
        </p:txBody>
      </p:sp>
      <p:sp>
        <p:nvSpPr>
          <p:cNvPr id="1048654" name="Google Shape;128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noFill/>
          <a:ln>
            <a:noFill/>
          </a:ln>
        </p:spPr>
        <p:txBody>
          <a:bodyPr anchor="t" anchorCtr="0" bIns="91425" lIns="91425" rIns="91425" spcFirstLastPara="1" tIns="91425" wrap="square">
            <a:normAutofit fontScale="85000" lnSpcReduction="20000"/>
          </a:bodyPr>
          <a:p>
            <a:pPr algn="just" indent="-457200" lvl="0" marL="571500">
              <a:buFont typeface="+mj-lt"/>
              <a:buAutoNum type="arabicPeriod"/>
            </a:pP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A. Raga, M. Mannan and A. </a:t>
            </a:r>
            <a:r>
              <a:rPr dirty="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Youssef,“Trust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Me Over My Privacy Policy: Privacy Discrepancies in Romantic AI Chatbot Apps,” in Proceedings of the 2024 IEEE European Symposium on Security and Privacy Workshops (</a:t>
            </a:r>
            <a:r>
              <a:rPr dirty="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EuroS&amp;PW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), 2024.</a:t>
            </a:r>
          </a:p>
          <a:p>
            <a:pPr algn="just" indent="-457200" lvl="0" marL="571500">
              <a:buFont typeface="+mj-lt"/>
              <a:buAutoNum type="arabicPeriod"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-457200" lvl="0" marL="571500">
              <a:buFont typeface="+mj-lt"/>
              <a:buAutoNum type="arabicPeriod"/>
            </a:pP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S. Wang, Y. Wang and X. </a:t>
            </a:r>
            <a:r>
              <a:rPr dirty="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Zhan,“APER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Evolution-Aware Runtime Permission Misuse Detection for Android Apps,” in Proceedings of the 44th IEEE/ACM International Conference on Software Engineering (ICSE), 2022.</a:t>
            </a:r>
          </a:p>
          <a:p>
            <a:pPr algn="just" indent="-457200" lvl="0" marL="571500">
              <a:buFont typeface="+mj-lt"/>
              <a:buAutoNum type="arabicPeriod"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-457200" lvl="0" marL="571500">
              <a:buFont typeface="+mj-lt"/>
              <a:buAutoNum type="arabicPeriod"/>
            </a:pP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M. Duan, L. Jiang, L. Xin Shan and D. Gao,“</a:t>
            </a:r>
            <a:r>
              <a:rPr dirty="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UIPDroid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Unrooted Dynamic Monitor of Android App UIs for Fine-Grained Permission Control,” in Proceedings of the 44th IEEE/ACM International Conference on Software Engineering: Companion Proceedings (ICSE-Companion), 2022.</a:t>
            </a:r>
            <a:endParaRPr dirty="0" lang="en-US"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133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noFill/>
          <a:ln>
            <a:noFill/>
          </a:ln>
        </p:spPr>
        <p:txBody>
          <a:bodyPr anchor="t" anchorCtr="0" bIns="91425" lIns="91425" rIns="91425" spcFirstLastPara="1" tIns="91425" wrap="square">
            <a:normAutofit fontScale="90000"/>
          </a:bodyPr>
          <a:p>
            <a:pPr lvl="0"/>
            <a:r>
              <a:rPr b="1" dirty="0" sz="3100"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REFERENCES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:</a:t>
            </a:r>
          </a:p>
        </p:txBody>
      </p:sp>
      <p:sp>
        <p:nvSpPr>
          <p:cNvPr id="1048658" name="Google Shape;134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p>
            <a:pPr algn="just" lvl="0">
              <a:buFont typeface="+mj-lt"/>
              <a:buAutoNum type="arabicPeriod" startAt="4"/>
            </a:pP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N. Kowsika, U. Uma Maheswari and R. Vathan Arun </a:t>
            </a:r>
            <a:r>
              <a:rPr dirty="0" sz="1800"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Sathya,“Identifying</a:t>
            </a:r>
            <a:r>
              <a:rPr dirty="0" sz="18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Fake Apps on Google Play Store Through Text Analysis: Leveraging Natural Language Processing for App Safety,” in Proceedings of the 8th International Conference on Computing Methodologies and Communication (ICCMC), IEEE, 2025.</a:t>
            </a:r>
          </a:p>
          <a:p>
            <a:pPr algn="just" lvl="0">
              <a:buFont typeface="+mj-lt"/>
              <a:buAutoNum type="arabicPeriod" startAt="4"/>
            </a:pPr>
            <a:endParaRPr dirty="0" sz="1800" lang="en-IN"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algn="just" lvl="0">
              <a:buFont typeface="+mj-lt"/>
              <a:buAutoNum type="arabicPeriod" startAt="4"/>
            </a:pP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P. R. Anish, A. Verma, S. V., L. V. and S. </a:t>
            </a:r>
            <a:r>
              <a:rPr dirty="0" sz="18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Ghaisas,“Automated</a:t>
            </a:r>
            <a:r>
              <a:rPr dirty="0" sz="18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Identification of Security &amp; Privacy Requirements from Software Engineering Contracts,” in IEEE International Requirements Engineering Conference Workshops, 2023.</a:t>
            </a:r>
            <a:endParaRPr dirty="0" sz="1800" lang="en-IN"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SRM VALLIAMMAI ENGINEERING COLLEGE</dc:title>
  <dc:creator>Sivaraman S</dc:creator>
  <cp:lastModifiedBy>Shunmuga Priyaradha</cp:lastModifiedBy>
  <dcterms:created xsi:type="dcterms:W3CDTF">2024-01-18T17:12:59Z</dcterms:created>
  <dcterms:modified xsi:type="dcterms:W3CDTF">2026-05-30T14:30:37Z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ICV">
    <vt:lpwstr>fd165ed6170c475dbf8624965efc2cb1_23</vt:lpwstr>
  </property>
</Properties>
</file>